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참여율</c:v>
                </c:pt>
              </c:strCache>
            </c:strRef>
          </c:tx>
          <c:spPr>
            <a:solidFill>
              <a:srgbClr val="C8C8CA"/>
            </a:solidFill>
          </c:spPr>
          <c:dPt>
            <c:idx val="4"/>
            <c:spPr>
              <a:solidFill>
                <a:srgbClr val="ED1AA0"/>
              </a:solidFill>
            </c:spPr>
          </c:dPt>
          <c:cat>
            <c:strRef>
              <c:f>Sheet1!$A$2:$A$11</c:f>
              <c:strCache>
                <c:ptCount val="10"/>
                <c:pt idx="0">
                  <c:v>1회</c:v>
                </c:pt>
                <c:pt idx="1">
                  <c:v>2회</c:v>
                </c:pt>
                <c:pt idx="2">
                  <c:v>3회</c:v>
                </c:pt>
                <c:pt idx="3">
                  <c:v>4회</c:v>
                </c:pt>
                <c:pt idx="4">
                  <c:v>5회</c:v>
                </c:pt>
                <c:pt idx="5">
                  <c:v>6회</c:v>
                </c:pt>
                <c:pt idx="6">
                  <c:v>7회</c:v>
                </c:pt>
                <c:pt idx="7">
                  <c:v>8회</c:v>
                </c:pt>
                <c:pt idx="8">
                  <c:v>9회</c:v>
                </c:pt>
                <c:pt idx="9">
                  <c:v>10회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100.0</c:v>
                </c:pt>
                <c:pt idx="1">
                  <c:v>95.0</c:v>
                </c:pt>
                <c:pt idx="2">
                  <c:v>100.0</c:v>
                </c:pt>
                <c:pt idx="3">
                  <c:v>90.0</c:v>
                </c:pt>
                <c:pt idx="4">
                  <c:v>70.0</c:v>
                </c:pt>
                <c:pt idx="5">
                  <c:v>100.0</c:v>
                </c:pt>
                <c:pt idx="6">
                  <c:v>95.0</c:v>
                </c:pt>
                <c:pt idx="7">
                  <c:v>100.0</c:v>
                </c:pt>
                <c:pt idx="8">
                  <c:v>90.0</c:v>
                </c:pt>
                <c:pt idx="9">
                  <c:v>100.0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>
                  <a:solidFill>
                    <a:srgbClr val="707072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707072"/>
                </a:solidFill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>
          <c:spPr>
            <a:ln>
              <a:solidFill>
                <a:srgbClr val="EEEEEE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707072"/>
                </a:solidFill>
                <a:latin typeface="맑은 고딕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긍정</c:v>
                </c:pt>
              </c:strCache>
            </c:strRef>
          </c:tx>
          <c:spPr>
            <a:solidFill>
              <a:srgbClr val="C8C8CA"/>
            </a:solidFill>
          </c:spPr>
          <c:cat>
            <c:strRef>
              <c:f>Sheet1!$A$2:$A$5</c:f>
              <c:strCache>
                <c:ptCount val="4"/>
                <c:pt idx="0">
                  <c:v>재미</c:v>
                </c:pt>
                <c:pt idx="1">
                  <c:v>코딩 원리</c:v>
                </c:pt>
                <c:pt idx="2">
                  <c:v>협력</c:v>
                </c:pt>
                <c:pt idx="3">
                  <c:v>내년 참여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80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>
                  <a:solidFill>
                    <a:srgbClr val="707072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707072"/>
                </a:solidFill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EEEEE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707072"/>
                </a:solidFill>
                <a:latin typeface="맑은 고딕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2025 디지털 동아리 운영 결과입니다. 강의안 스타일 가이드(검정 표지, 회색 카드, 포인트색 한 가지)를 따라 만든 버전입니다. ※ 글꼴 안내: Black Han Sans·Pretendard가 이 PC에 설치되어 있지 않아 맑은 고딕(제목은 굵게)으로 바꿔 썼습니다.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5월 23일부터 9월 12일까지 매주 금요일, 컴퓨터 1실에서 10회 운영했습니다. 신청 학생은 20명입니다.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기초 기능에서 센서와 통신, 팀 프로젝트로 단계를 높였습니다. 2학기 라디오 통신 심화는 4~6학년만 진행했습니다.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6회 발표회에서 9개 팀이 발표했고, 학부모님 5분이 참관하셨습니다. 자동 물주기 화분 팀의 아이디어가 특히 좋았습니다.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회차별 참여율입니다. 5회, 6월 27일만 현장체험학습과 겹쳐 70%였고 나머지는 90% 이상입니다. 만족도 긍정 비율은 재미 90, 코딩 원리 80, 협력 80, 내년 참여 90%입니다.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평균 참여율 94.0%, 만족도 긍정 평균 85%, 예산 집행률 97.7%입니다. 잔액은 3만 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교구가 2인 1대로 부족했고 배터리 소모가 빨랐습니다. 무선 페어링 오류로 시간이 부족했던 4회 경험을 바탕으로 그룹 번호를 미리 세팅하겠습니다. 발표 시간도 넉넉히 잡겠습니다.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마이크로비트라는 작은 보드 하나로 아이들이 생활 속 문제를 풀어 봤습니다.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0000" y="1500000"/>
            <a:ext cx="2800300" cy="350520"/>
          </a:xfrm>
          <a:prstGeom prst="roundRect">
            <a:avLst>
              <a:gd name="adj" fmla="val 50000"/>
            </a:avLst>
          </a:prstGeom>
          <a:solidFill>
            <a:srgbClr val="ED1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학교 보고 · 디지털 동아리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000" y="2050000"/>
            <a:ext cx="10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2025 디지털 동아리</a:t>
            </a:r>
          </a:p>
          <a:p>
            <a:r>
              <a: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425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BBBBB"/>
                </a:solidFill>
                <a:latin typeface="맑은 고딕"/>
                <a:ea typeface="맑은 고딕"/>
                <a:cs typeface="맑은 고딕"/>
              </a:rPr>
              <a:t>마이크로비트로 10번 만나고, 20명이 만들었어요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57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E9EA0"/>
                </a:solidFill>
                <a:latin typeface="맑은 고딕"/>
                <a:ea typeface="맑은 고딕"/>
                <a:cs typeface="맑은 고딕"/>
              </a:rPr>
              <a:t>오현초등학교 과학진로부  오태민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000000"/>
            <a:ext cx="9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000" y="3100000"/>
            <a:ext cx="8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BBBBB"/>
                </a:solidFill>
                <a:latin typeface="맑은 고딕"/>
                <a:ea typeface="맑은 고딕"/>
                <a:cs typeface="맑은 고딕"/>
              </a:rPr>
              <a:t>언제, 누구와, 무엇을 했는지</a:t>
            </a:r>
          </a:p>
          <a:p>
            <a:r>
              <a:rPr sz="1800" b="0">
                <a:solidFill>
                  <a:srgbClr val="BBBBBB"/>
                </a:solidFill>
                <a:latin typeface="맑은 고딕"/>
                <a:ea typeface="맑은 고딕"/>
                <a:cs typeface="맑은 고딕"/>
              </a:rPr>
              <a:t>숫자 세 개로 먼저 볼게요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2000" y="3958000"/>
            <a:ext cx="40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3A3A3C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600000"/>
            <a:ext cx="10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한눈에 보는 운영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000" y="1350000"/>
            <a:ext cx="10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707072"/>
                </a:solidFill>
                <a:latin typeface="맑은 고딕"/>
                <a:ea typeface="맑은 고딕"/>
                <a:cs typeface="맑은 고딕"/>
              </a:rPr>
              <a:t>2025. 5. 23.(금)~9. 12.(금) · 매주 금요일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000" y="2250000"/>
            <a:ext cx="3350000" cy="320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0000" y="2580000"/>
            <a:ext cx="1200100" cy="350520"/>
          </a:xfrm>
          <a:prstGeom prst="roundRect">
            <a:avLst>
              <a:gd name="adj" fmla="val 50000"/>
            </a:avLst>
          </a:prstGeom>
          <a:solidFill>
            <a:srgbClr val="ED1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횟수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000" y="3300000"/>
            <a:ext cx="275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10회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000" y="4500000"/>
            <a:ext cx="27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  <a:ea typeface="맑은 고딕"/>
                <a:cs typeface="맑은 고딕"/>
              </a:rPr>
              <a:t>1학기 6 · 2학기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0000" y="2250000"/>
            <a:ext cx="3350000" cy="320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40000" y="2580000"/>
            <a:ext cx="1200100" cy="35052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참여 학생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0000" y="3300000"/>
            <a:ext cx="275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20명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0000" y="4500000"/>
            <a:ext cx="27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  <a:ea typeface="맑은 고딕"/>
                <a:cs typeface="맑은 고딕"/>
              </a:rPr>
              <a:t>학년 구성 [확인 필요]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0" y="2250000"/>
            <a:ext cx="3350000" cy="320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0000" y="2580000"/>
            <a:ext cx="720040" cy="35052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장소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000" y="3300000"/>
            <a:ext cx="275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컴퓨터 1실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000" y="4500000"/>
            <a:ext cx="27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  <a:ea typeface="맑은 고딕"/>
                <a:cs typeface="맑은 고딕"/>
              </a:rPr>
              <a:t>회당 2차시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2000" y="6338000"/>
            <a:ext cx="2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E9EA0"/>
                </a:solidFill>
                <a:latin typeface="맑은 고딕"/>
                <a:ea typeface="맑은 고딕"/>
                <a:cs typeface="맑은 고딕"/>
              </a:rPr>
              <a:t>운영 개요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600000"/>
            <a:ext cx="10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이렇게 진행했어요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000" y="1350000"/>
            <a:ext cx="10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707072"/>
                </a:solidFill>
                <a:latin typeface="맑은 고딕"/>
                <a:ea typeface="맑은 고딕"/>
                <a:cs typeface="맑은 고딕"/>
              </a:rPr>
              <a:t>기초에서 프로젝트까지 세 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760000" y="2500000"/>
            <a:ext cx="3350000" cy="15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0000" y="2800000"/>
            <a:ext cx="560000" cy="560000"/>
          </a:xfrm>
          <a:prstGeom prst="ellipse">
            <a:avLst/>
          </a:prstGeom>
          <a:solidFill>
            <a:srgbClr val="ED1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0000" y="3550000"/>
            <a:ext cx="33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기초 익히기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150000"/>
            <a:ext cx="315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707072"/>
                </a:solidFill>
                <a:latin typeface="맑은 고딕"/>
                <a:ea typeface="맑은 고딕"/>
                <a:cs typeface="맑은 고딕"/>
              </a:rPr>
              <a:t>1~2회 · LED, 애니메이션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0000" y="2500000"/>
            <a:ext cx="3350000" cy="15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40000" y="2800000"/>
            <a:ext cx="560000" cy="560000"/>
          </a:xfrm>
          <a:prstGeom prst="ellipse">
            <a:avLst/>
          </a:prstGeom>
          <a:solidFill>
            <a:srgbClr val="ED1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0000" y="3550000"/>
            <a:ext cx="33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센서·통신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0000" y="4150000"/>
            <a:ext cx="315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707072"/>
                </a:solidFill>
                <a:latin typeface="맑은 고딕"/>
                <a:ea typeface="맑은 고딕"/>
                <a:cs typeface="맑은 고딕"/>
              </a:rPr>
              <a:t>3~4회 · 온도 센서, 무선 게임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0" y="2500000"/>
            <a:ext cx="3350000" cy="15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20000" y="2800000"/>
            <a:ext cx="560000" cy="560000"/>
          </a:xfrm>
          <a:prstGeom prst="ellipse">
            <a:avLst/>
          </a:prstGeom>
          <a:solidFill>
            <a:srgbClr val="ED1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0" y="3550000"/>
            <a:ext cx="33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프로젝트·발표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0" y="4150000"/>
            <a:ext cx="315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707072"/>
                </a:solidFill>
                <a:latin typeface="맑은 고딕"/>
                <a:ea typeface="맑은 고딕"/>
                <a:cs typeface="맑은 고딕"/>
              </a:rPr>
              <a:t>5~10회 · 팀 제작, 발표회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2000" y="6338000"/>
            <a:ext cx="2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E9EA0"/>
                </a:solidFill>
                <a:latin typeface="맑은 고딕"/>
                <a:ea typeface="맑은 고딕"/>
                <a:cs typeface="맑은 고딕"/>
              </a:rPr>
              <a:t>운영 개요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0000" y="1700000"/>
            <a:ext cx="700000" cy="80000"/>
          </a:xfrm>
          <a:prstGeom prst="rect">
            <a:avLst/>
          </a:prstGeom>
          <a:solidFill>
            <a:srgbClr val="ED1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2000000"/>
            <a:ext cx="105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구경하는 동아리가 아니라</a:t>
            </a:r>
          </a:p>
          <a:p>
            <a:r>
              <a:rPr sz="40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직접 만드는 동아리였어요.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43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707072"/>
                </a:solidFill>
                <a:latin typeface="맑은 고딕"/>
                <a:ea typeface="맑은 고딕"/>
                <a:cs typeface="맑은 고딕"/>
              </a:rPr>
              <a:t>6회 발표회 9개 팀 · 학부모 5명 참관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2000" y="6338000"/>
            <a:ext cx="2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E9EA0"/>
                </a:solidFill>
                <a:latin typeface="맑은 고딕"/>
                <a:ea typeface="맑은 고딕"/>
                <a:cs typeface="맑은 고딕"/>
              </a:rPr>
              <a:t>운영 개요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2000000"/>
            <a:ext cx="9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숫자로 본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000" y="3100000"/>
            <a:ext cx="8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BBBBB"/>
                </a:solidFill>
                <a:latin typeface="맑은 고딕"/>
                <a:ea typeface="맑은 고딕"/>
                <a:cs typeface="맑은 고딕"/>
              </a:rPr>
              <a:t>참여율, 만족도, 예산</a:t>
            </a:r>
          </a:p>
          <a:p>
            <a:r>
              <a:rPr sz="1800" b="0">
                <a:solidFill>
                  <a:srgbClr val="BBBBBB"/>
                </a:solidFill>
                <a:latin typeface="맑은 고딕"/>
                <a:ea typeface="맑은 고딕"/>
                <a:cs typeface="맑은 고딕"/>
              </a:rPr>
              <a:t>엑셀 값 그대로 옮겼어요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2000" y="3958000"/>
            <a:ext cx="40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3A3A3C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600000"/>
            <a:ext cx="10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참여율과 만족도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000" y="1350000"/>
            <a:ext cx="10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707072"/>
                </a:solidFill>
                <a:latin typeface="맑은 고딕"/>
                <a:ea typeface="맑은 고딕"/>
                <a:cs typeface="맑은 고딕"/>
              </a:rPr>
              <a:t>왼쪽 회차별 참여율(%) · 오른쪽 문항별 긍정 비율(%)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0000" y="2000000"/>
          <a:ext cx="6300000" cy="39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60000" y="2000000"/>
          <a:ext cx="4100000" cy="39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992000" y="6338000"/>
            <a:ext cx="2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E9EA0"/>
                </a:solidFill>
                <a:latin typeface="맑은 고딕"/>
                <a:ea typeface="맑은 고딕"/>
                <a:cs typeface="맑은 고딕"/>
              </a:rPr>
              <a:t>숫자로 본 결과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600000"/>
            <a:ext cx="10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세 숫자로 정리하면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000" y="1350000"/>
            <a:ext cx="10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707072"/>
                </a:solidFill>
                <a:latin typeface="맑은 고딕"/>
                <a:ea typeface="맑은 고딕"/>
                <a:cs typeface="맑은 고딕"/>
              </a:rPr>
              <a:t>모두 엑셀·메모 값 그대로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0000" y="2250000"/>
            <a:ext cx="3350000" cy="320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0000" y="2580000"/>
            <a:ext cx="880060" cy="350520"/>
          </a:xfrm>
          <a:prstGeom prst="roundRect">
            <a:avLst>
              <a:gd name="adj" fmla="val 50000"/>
            </a:avLst>
          </a:prstGeom>
          <a:solidFill>
            <a:srgbClr val="ED1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참여율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000" y="3300000"/>
            <a:ext cx="275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94.0%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000" y="4500000"/>
            <a:ext cx="27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  <a:ea typeface="맑은 고딕"/>
                <a:cs typeface="맑은 고딕"/>
              </a:rPr>
              <a:t>188명 / 200명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0000" y="2250000"/>
            <a:ext cx="3350000" cy="320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40000" y="2580000"/>
            <a:ext cx="880060" cy="35052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만족도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0000" y="3300000"/>
            <a:ext cx="275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0000" y="4500000"/>
            <a:ext cx="27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  <a:ea typeface="맑은 고딕"/>
                <a:cs typeface="맑은 고딕"/>
              </a:rPr>
              <a:t>4문항 긍정 평균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0" y="2250000"/>
            <a:ext cx="3350000" cy="320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0000" y="2580000"/>
            <a:ext cx="1200100" cy="35052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예산 집행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000" y="3300000"/>
            <a:ext cx="275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97.7%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000" y="4500000"/>
            <a:ext cx="27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07072"/>
                </a:solidFill>
                <a:latin typeface="맑은 고딕"/>
                <a:ea typeface="맑은 고딕"/>
                <a:cs typeface="맑은 고딕"/>
              </a:rPr>
              <a:t>127만 / 130만 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2000" y="6338000"/>
            <a:ext cx="2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E9EA0"/>
                </a:solidFill>
                <a:latin typeface="맑은 고딕"/>
                <a:ea typeface="맑은 고딕"/>
                <a:cs typeface="맑은 고딕"/>
              </a:rPr>
              <a:t>숫자로 본 결과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0000" y="600000"/>
            <a:ext cx="10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내년에는 이렇게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0000" y="1350000"/>
            <a:ext cx="10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707072"/>
                </a:solidFill>
                <a:latin typeface="맑은 고딕"/>
                <a:ea typeface="맑은 고딕"/>
                <a:cs typeface="맑은 고딕"/>
              </a:rPr>
              <a:t>아쉬웠던 점에서 나온 세 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760000" y="2500000"/>
            <a:ext cx="3350000" cy="15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0000" y="2800000"/>
            <a:ext cx="560000" cy="560000"/>
          </a:xfrm>
          <a:prstGeom prst="ellipse">
            <a:avLst/>
          </a:prstGeom>
          <a:solidFill>
            <a:srgbClr val="ED1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0000" y="3550000"/>
            <a:ext cx="33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교구 더 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150000"/>
            <a:ext cx="315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707072"/>
                </a:solidFill>
                <a:latin typeface="맑은 고딕"/>
                <a:ea typeface="맑은 고딕"/>
                <a:cs typeface="맑은 고딕"/>
              </a:rPr>
              <a:t>지금은 2명이 1대 · 배터리 여분도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0000" y="2500000"/>
            <a:ext cx="3350000" cy="15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40000" y="2800000"/>
            <a:ext cx="560000" cy="560000"/>
          </a:xfrm>
          <a:prstGeom prst="ellipse">
            <a:avLst/>
          </a:prstGeom>
          <a:solidFill>
            <a:srgbClr val="ED1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0000" y="3550000"/>
            <a:ext cx="33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미리 세팅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0000" y="4150000"/>
            <a:ext cx="315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707072"/>
                </a:solidFill>
                <a:latin typeface="맑은 고딕"/>
                <a:ea typeface="맑은 고딕"/>
                <a:cs typeface="맑은 고딕"/>
              </a:rPr>
              <a:t>무선 그룹 번호를 수업 전에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0" y="2500000"/>
            <a:ext cx="3350000" cy="1500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20000" y="2800000"/>
            <a:ext cx="560000" cy="560000"/>
          </a:xfrm>
          <a:prstGeom prst="ellipse">
            <a:avLst/>
          </a:prstGeom>
          <a:solidFill>
            <a:srgbClr val="ED1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0" y="3550000"/>
            <a:ext cx="33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발표 시간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0" y="4150000"/>
            <a:ext cx="315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707072"/>
                </a:solidFill>
                <a:latin typeface="맑은 고딕"/>
                <a:ea typeface="맑은 고딕"/>
                <a:cs typeface="맑은 고딕"/>
              </a:rPr>
              <a:t>발표 회차 시간 배분 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2000" y="6338000"/>
            <a:ext cx="2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E9EA0"/>
                </a:solidFill>
                <a:latin typeface="맑은 고딕"/>
                <a:ea typeface="맑은 고딕"/>
                <a:cs typeface="맑은 고딕"/>
              </a:rPr>
              <a:t>숫자로 본 결과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0000" y="1700000"/>
            <a:ext cx="700000" cy="80000"/>
          </a:xfrm>
          <a:prstGeom prst="rect">
            <a:avLst/>
          </a:prstGeom>
          <a:solidFill>
            <a:srgbClr val="ED1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2000000"/>
            <a:ext cx="105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작은 보드 하나로</a:t>
            </a:r>
          </a:p>
          <a:p>
            <a:r>
              <a:rPr sz="40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아이들이 문제를 풀었어요.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" y="43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707072"/>
                </a:solidFill>
                <a:latin typeface="맑은 고딕"/>
                <a:ea typeface="맑은 고딕"/>
                <a:cs typeface="맑은 고딕"/>
              </a:rPr>
              <a:t>다시 볼 곳: [확인 필요]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2000" y="6338000"/>
            <a:ext cx="2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E9EA0"/>
                </a:solidFill>
                <a:latin typeface="맑은 고딕"/>
                <a:ea typeface="맑은 고딕"/>
                <a:cs typeface="맑은 고딕"/>
              </a:rPr>
              <a:t>마무리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실습용</cp:lastModifiedBy>
  <cp:revision>1</cp:revision>
  <dcterms:created xsi:type="dcterms:W3CDTF">2013-01-27T09:14:16Z</dcterms:created>
  <dcterms:modified xsi:type="dcterms:W3CDTF">2013-01-27T09:15:58Z</dcterms:modified>
  <cp:category/>
</cp:coreProperties>
</file>