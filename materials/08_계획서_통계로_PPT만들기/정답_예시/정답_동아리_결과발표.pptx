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참여율</c:v>
                </c:pt>
              </c:strCache>
            </c:strRef>
          </c:tx>
          <c:spPr>
            <a:solidFill>
              <a:srgbClr val="1F3A5F"/>
            </a:solidFill>
          </c:spPr>
          <c:dPt>
            <c:idx val="4"/>
            <c:spPr>
              <a:solidFill>
                <a:srgbClr val="C0504D"/>
              </a:solidFill>
            </c:spPr>
          </c:dPt>
          <c:cat>
            <c:strRef>
              <c:f>Sheet1!$A$2:$A$11</c:f>
              <c:strCache>
                <c:ptCount val="10"/>
                <c:pt idx="0">
                  <c:v>1회</c:v>
                </c:pt>
                <c:pt idx="1">
                  <c:v>2회</c:v>
                </c:pt>
                <c:pt idx="2">
                  <c:v>3회</c:v>
                </c:pt>
                <c:pt idx="3">
                  <c:v>4회</c:v>
                </c:pt>
                <c:pt idx="4">
                  <c:v>5회</c:v>
                </c:pt>
                <c:pt idx="5">
                  <c:v>6회</c:v>
                </c:pt>
                <c:pt idx="6">
                  <c:v>7회</c:v>
                </c:pt>
                <c:pt idx="7">
                  <c:v>8회</c:v>
                </c:pt>
                <c:pt idx="8">
                  <c:v>9회</c:v>
                </c:pt>
                <c:pt idx="9">
                  <c:v>10회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100.0</c:v>
                </c:pt>
                <c:pt idx="1">
                  <c:v>95.0</c:v>
                </c:pt>
                <c:pt idx="2">
                  <c:v>100.0</c:v>
                </c:pt>
                <c:pt idx="3">
                  <c:v>90.0</c:v>
                </c:pt>
                <c:pt idx="4">
                  <c:v>70.0</c:v>
                </c:pt>
                <c:pt idx="5">
                  <c:v>100.0</c:v>
                </c:pt>
                <c:pt idx="6">
                  <c:v>95.0</c:v>
                </c:pt>
                <c:pt idx="7">
                  <c:v>100.0</c:v>
                </c:pt>
                <c:pt idx="8">
                  <c:v>90.0</c:v>
                </c:pt>
                <c:pt idx="9">
                  <c:v>100.0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긍정 비율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Sheet1!$A$2:$A$5</c:f>
              <c:strCache>
                <c:ptCount val="4"/>
                <c:pt idx="0">
                  <c:v>활동이 재미있었다</c:v>
                </c:pt>
                <c:pt idx="1">
                  <c:v>코딩 원리를 이해하게 되었다</c:v>
                </c:pt>
                <c:pt idx="2">
                  <c:v>친구와 협력이 잘 되었다</c:v>
                </c:pt>
                <c:pt idx="3">
                  <c:v>내년에도 참여하고 싶다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2025학년도 마이크로비트 방과후 동아리 운영 결과를 보고드립니다. 운영 개요, 활동, 참여·만족도, 성과와 개선점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동아리는 5월 23일부터 9월 12일까지 매주 금요일에 열렸습니다. 1학기 6회, 2학기 4회로 모두 10회, 20차시를 운영했습니다. 6월 6일 현충일은 제외했습니다.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기초 기능에서 시작해 센서와 무선 통신, 그리고 팀 프로젝트로 단계를 높였습니다. 2학기 라디오 통신 심화는 4~6학년만 진행하고 3학년은 기본 활동을 반복했습니다.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10회 평균 참여율은 94.0%입니다. 가장 낮았던 5회, 6월 27일은 현장체험학습과 겹쳐 70%였고, 나머지 회차는 모두 90% 이상이었습니다.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만족도 조사는 20명이 응답했습니다. 재미와 내년 참여 의향이 90%로 가장 높았고, 코딩 원리 이해와 협력은 80%였습니다.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발표회에서 9개 팀이 프로젝트를 발표했고 학부모님 5분이 참관하셨습니다. 예산은 130만 원 중 127만 원을 집행해 집행률 97.7%입니다. 활동 운영비 27만 원은 배터리와 센서 추가 구입에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운영하며 아쉬웠던 점과 개선 방안입니다. 특히 4회 무선통신 활동에서 페어링 오류로 시간이 부족했는데, 다음에는 그룹 번호를 미리 세팅하겠습니다.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보고를 마칩니다. 내년 운영에 반영할 의견이 있으시면 말씀 부탁드립니다.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 디지털 동아리 운영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DE6F0"/>
                </a:solidFill>
                <a:latin typeface="맑은 고딕"/>
                <a:ea typeface="맑은 고딕"/>
                <a:cs typeface="맑은 고딕"/>
              </a:rPr>
              <a:t>오현초등학교 과학진로부 · 오태민 · 마이크로비트 방과후 동아리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기간: 2025. 5. 23.(금)~9. 12.(금), 매주 금요일 14:40~16:10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대상: 신청 학생 20명 (학년 구성 [확인 필요])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장소: 컴퓨터 1실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횟수: 10회(1학기 6회, 2학기 4회), 회당 2차시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1695" y="6358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활동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1~2회: 마이크로비트 기본 기능, LED 애니메이션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3~4회: 버튼·센서 활용, 무선 통신 게임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5~6회: 팀 프로젝트 기획·제작, 발표회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7~10회: 라디오 통신 심화, 창의 프로젝트 제작·최종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1695" y="6358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참여 현황 — 회차별 참여율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1695" y="6358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0000" y="1150000"/>
          <a:ext cx="7400000" cy="4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00000" y="1600000"/>
            <a:ext cx="3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평균 참여율 94.0%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(참여 188명 / 등록 200명)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최저: 5회(6. 27.) 70%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현장체험학습과 겹침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만족도 — 문항별 긍정 응답 비율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1695" y="6358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0000" y="1150000"/>
          <a:ext cx="7400000" cy="4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00000" y="1600000"/>
            <a:ext cx="3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응답 20명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긍정 = 매우 그렇다 + 그렇다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4문항 평균 85%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6회 발표회: 9개 팀 발표, 학부모 5명 참관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'자동 물주기 화분' 등 생활 문제 해결 아이디어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3회 온도 센서 활동 반응이 가장 좋았음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예산 집행 1,270,000원 / 1,300,000원 (집행률 97.7%)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1695" y="6358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교구 부족(2인 1대) → 교구 추가 확보 검토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배터리 소모 빠름 → 여분 배터리 상시 비치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무선 페어링 오류 → 그룹 번호 미리 세팅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￭ 발표 시간 부족 → 발표 회차 시간 배분 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1695" y="6358000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DE6F0"/>
                </a:solidFill>
                <a:latin typeface="맑은 고딕"/>
                <a:ea typeface="맑은 고딕"/>
                <a:cs typeface="맑은 고딕"/>
              </a:rPr>
              <a:t>2025 디지털 동아리 운영 결과 · 오현초등학교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실습용</cp:lastModifiedBy>
  <cp:revision>1</cp:revision>
  <dcterms:created xsi:type="dcterms:W3CDTF">2013-01-27T09:14:16Z</dcterms:created>
  <dcterms:modified xsi:type="dcterms:W3CDTF">2013-01-27T09:15:58Z</dcterms:modified>
  <cp:category/>
</cp:coreProperties>
</file>